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notesMasterIdLst>
    <p:notesMasterId r:id="rId22"/>
  </p:notesMasterIdLst>
  <p:sldIdLst>
    <p:sldId id="256" r:id="rId2"/>
    <p:sldId id="257" r:id="rId3"/>
    <p:sldId id="271" r:id="rId4"/>
    <p:sldId id="272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76" r:id="rId15"/>
    <p:sldId id="274" r:id="rId16"/>
    <p:sldId id="277" r:id="rId17"/>
    <p:sldId id="267" r:id="rId18"/>
    <p:sldId id="268" r:id="rId19"/>
    <p:sldId id="278" r:id="rId20"/>
    <p:sldId id="270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4DE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02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3BC4-A3D0-EC40-7E1D-88F49A2B5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9DB484-0036-D37B-F82E-90FD6630C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F0E44-DF55-4ECD-EB0C-B3C5A69DF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5E158-FD35-EE6A-6835-D01648092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836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EB9D-5A03-F84A-4B62-200BCCF8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DC2C8-8EA2-DF97-A7FD-85BC43491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1966C-2067-2DD4-7278-ED25E7F64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896F-53CA-7C76-12A9-73DF3BFE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047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BE38F-F3AE-74BF-6E36-AB8E7121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B7A7C-1A23-2563-1F70-DFA417E76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C971-B288-0C16-B90E-B5488396C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0A244-E1CB-5E88-B2BB-223661B59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7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39E1B-7FCC-3067-403B-60A3D8951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7598B-A951-8E32-906A-988F5D172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F878A-84AE-52D7-8AB7-1BA333CAF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53F93-2810-8E20-4294-74BD9932C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73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05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71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2646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515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3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5117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080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802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583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71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1191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93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</a:rPr>
              <a:t>MEDATHON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PICO-SR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Automated Systematic Review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Meta-Analysis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3200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Turning 6–18 months of manual research into 10 minutes of AI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  ·  AI Statistical Meta-Analysis  ·  Living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8840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PROBLEM?</a:t>
            </a: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4572000" cy="2877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doctor wants to know —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"Does this treatment actually work?"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they cannot rely on a single study. One study can be wrong, biased, or too small.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gold standard answer comes from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and meta-analysis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collecting all published studies on a topic, screening them for quality, extracting the key numbers, and statistically combining them into one reliable conclusion.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how clinical guidelines are written. This is how drugs get approved. This is how hospitals decide which treatments to use.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this process is done entirely by hand — and it is broken.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9837" y="1261873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5557" y="13487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months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99074" y="18925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time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53354" y="2557683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53354" y="2657915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4–6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41277" y="323653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Researchers needed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40880" y="128895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04184" y="1371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$250K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04184" y="19246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40880" y="2546252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32320" y="26886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78040" y="322079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error rate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162843" y="4078049"/>
            <a:ext cx="3383280" cy="6858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37163" y="413519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  The moment a review is published,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papers make it outdated.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C898F-5E07-24CF-F0B4-77D79F315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3">
            <a:extLst>
              <a:ext uri="{FF2B5EF4-FFF2-40B4-BE49-F238E27FC236}">
                <a16:creationId xmlns:a16="http://schemas.microsoft.com/office/drawing/2014/main" id="{CA18AB73-AFA8-EA98-D056-859B5696B3D7}"/>
              </a:ext>
            </a:extLst>
          </p:cNvPr>
          <p:cNvSpPr/>
          <p:nvPr/>
        </p:nvSpPr>
        <p:spPr>
          <a:xfrm>
            <a:off x="457200" y="2514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 IS IMPORTANT 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426249-6677-9D7A-41D7-0FA008936A90}"/>
              </a:ext>
            </a:extLst>
          </p:cNvPr>
          <p:cNvSpPr txBox="1"/>
          <p:nvPr/>
        </p:nvSpPr>
        <p:spPr>
          <a:xfrm>
            <a:off x="583810" y="928488"/>
            <a:ext cx="60561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year, over 1 million new medical research papers are published.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and policymakers cannot read all of them.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reviews exist to synthesis this flood of evidence into actionable conclusions.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them, medicine reverts to guesswork and opinion.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FA464A-51A5-B585-A6C0-A25462867BEE}"/>
              </a:ext>
            </a:extLst>
          </p:cNvPr>
          <p:cNvSpPr txBox="1"/>
          <p:nvPr/>
        </p:nvSpPr>
        <p:spPr>
          <a:xfrm>
            <a:off x="386861" y="2936129"/>
            <a:ext cx="70268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❗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systematic review is wrong, delayed, or outdated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3BB00B-4482-C04D-8242-F22451CAD385}"/>
              </a:ext>
            </a:extLst>
          </p:cNvPr>
          <p:cNvSpPr txBox="1"/>
          <p:nvPr/>
        </p:nvSpPr>
        <p:spPr>
          <a:xfrm>
            <a:off x="654148" y="3462885"/>
            <a:ext cx="67735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receive the wrong treatment.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approvals get delayed.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guidelines stay based on old evidence even when newer, better evidence exists.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458CCD45-716D-CF14-7071-2992241A107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91065F7D-9BDF-C87A-CC2D-9E724209FC45}"/>
              </a:ext>
            </a:extLst>
          </p:cNvPr>
          <p:cNvSpPr/>
          <p:nvPr/>
        </p:nvSpPr>
        <p:spPr>
          <a:xfrm>
            <a:off x="6984609" y="1126219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11B5D59-C79A-E4ED-1FBE-D46F1ABDCB7B}"/>
              </a:ext>
            </a:extLst>
          </p:cNvPr>
          <p:cNvSpPr/>
          <p:nvPr/>
        </p:nvSpPr>
        <p:spPr>
          <a:xfrm>
            <a:off x="6984609" y="129429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E2A69AD8-1C50-9FBB-413C-65AF62114877}"/>
              </a:ext>
            </a:extLst>
          </p:cNvPr>
          <p:cNvSpPr/>
          <p:nvPr/>
        </p:nvSpPr>
        <p:spPr>
          <a:xfrm>
            <a:off x="7076049" y="1873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per year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3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3C431-5379-86DF-FC22-79F006A4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3">
            <a:extLst>
              <a:ext uri="{FF2B5EF4-FFF2-40B4-BE49-F238E27FC236}">
                <a16:creationId xmlns:a16="http://schemas.microsoft.com/office/drawing/2014/main" id="{FEBBFEF6-21BC-F52B-FDE4-E16D6EFF5047}"/>
              </a:ext>
            </a:extLst>
          </p:cNvPr>
          <p:cNvSpPr/>
          <p:nvPr/>
        </p:nvSpPr>
        <p:spPr>
          <a:xfrm>
            <a:off x="309489" y="2514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Real-World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CA6E6C-6F81-2FE9-2334-28F41B2E015B}"/>
              </a:ext>
            </a:extLst>
          </p:cNvPr>
          <p:cNvSpPr txBox="1"/>
          <p:nvPr/>
        </p:nvSpPr>
        <p:spPr>
          <a:xfrm>
            <a:off x="555674" y="956808"/>
            <a:ext cx="3291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doctor needs the latest evidence, but existing reviews are outdated.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she gets updated meta-analysis in minutes using new studies.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Better treatment decisions, updated in real time.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1DD68D-ED1E-4839-AB8F-D7CB2D9989D4}"/>
              </a:ext>
            </a:extLst>
          </p:cNvPr>
          <p:cNvSpPr txBox="1"/>
          <p:nvPr/>
        </p:nvSpPr>
        <p:spPr>
          <a:xfrm>
            <a:off x="4318782" y="929788"/>
            <a:ext cx="34465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researcher spends months manually screening and extracting data.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this process is automated and completed in days.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Impact: Researchers focus on analysis and insights, not manual work.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C0F86A-412A-664E-83FD-357BE2CA67DF}"/>
              </a:ext>
            </a:extLst>
          </p:cNvPr>
          <p:cNvSpPr txBox="1"/>
          <p:nvPr/>
        </p:nvSpPr>
        <p:spPr>
          <a:xfrm>
            <a:off x="555674" y="2764710"/>
            <a:ext cx="3291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Low-Resource Hospital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hospital with limited resources cannot access updated research easily.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a doctor can generate meta-analysis and conclusions quickly using free tools.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Makes evidence-based medicine accessible to all.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89F2F5-0EA0-65B4-2723-4CF581FA9AB0}"/>
              </a:ext>
            </a:extLst>
          </p:cNvPr>
          <p:cNvSpPr txBox="1"/>
          <p:nvPr/>
        </p:nvSpPr>
        <p:spPr>
          <a:xfrm>
            <a:off x="4318783" y="2749997"/>
            <a:ext cx="32918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 are often outdated due to slow review processes.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PICO-SR, new evidence is automatically updated and analyzed.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Impact: Clinical guidelines stay current and evidence-based.</a:t>
            </a:r>
          </a:p>
          <a:p>
            <a:pPr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0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D270B-8CED-8D16-11FC-981AB9B4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72B1F7-C4EF-AD9D-44DF-7B7F0C38D3F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05CAC3-0CFA-C8CF-C7BE-97FC77BF8BA0}"/>
              </a:ext>
            </a:extLst>
          </p:cNvPr>
          <p:cNvSpPr/>
          <p:nvPr/>
        </p:nvSpPr>
        <p:spPr>
          <a:xfrm>
            <a:off x="295421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 &amp; Target Users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EFCFAA-4E0D-9E21-6537-B229BE15ABA6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026256E-6FA4-5208-D6DF-DA9E7E970DE6}"/>
              </a:ext>
            </a:extLst>
          </p:cNvPr>
          <p:cNvSpPr/>
          <p:nvPr/>
        </p:nvSpPr>
        <p:spPr>
          <a:xfrm>
            <a:off x="6182750" y="1407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3DCDDA6-8B5A-D647-5E2F-E1A8365D1623}"/>
              </a:ext>
            </a:extLst>
          </p:cNvPr>
          <p:cNvSpPr/>
          <p:nvPr/>
        </p:nvSpPr>
        <p:spPr>
          <a:xfrm>
            <a:off x="5486400" y="1818952"/>
            <a:ext cx="3474720" cy="2826199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F8DE0DD-8540-167B-F8DA-C3E4C6C95DD2}"/>
              </a:ext>
            </a:extLst>
          </p:cNvPr>
          <p:cNvSpPr/>
          <p:nvPr/>
        </p:nvSpPr>
        <p:spPr>
          <a:xfrm>
            <a:off x="6035040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Researchers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E064764-D694-EA2B-C586-CA9E54A1FE47}"/>
              </a:ext>
            </a:extLst>
          </p:cNvPr>
          <p:cNvSpPr/>
          <p:nvPr/>
        </p:nvSpPr>
        <p:spPr>
          <a:xfrm>
            <a:off x="6035040" y="23225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 Clinicians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A7F7610-CC09-CC4B-5A8C-8C5B8036C728}"/>
              </a:ext>
            </a:extLst>
          </p:cNvPr>
          <p:cNvSpPr/>
          <p:nvPr/>
        </p:nvSpPr>
        <p:spPr>
          <a:xfrm>
            <a:off x="6035040" y="2816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Analysts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2E52022-CBD9-11E5-DAE8-B0966BE16788}"/>
              </a:ext>
            </a:extLst>
          </p:cNvPr>
          <p:cNvSpPr/>
          <p:nvPr/>
        </p:nvSpPr>
        <p:spPr>
          <a:xfrm>
            <a:off x="6035040" y="3310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Institutions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779FA97-080F-27D7-AD92-E70197FBF144}"/>
              </a:ext>
            </a:extLst>
          </p:cNvPr>
          <p:cNvSpPr/>
          <p:nvPr/>
        </p:nvSpPr>
        <p:spPr>
          <a:xfrm>
            <a:off x="6035040" y="3803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 / Drug Review Boards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61D72B6-35F5-95D0-654B-E7D91B5778F0}"/>
              </a:ext>
            </a:extLst>
          </p:cNvPr>
          <p:cNvSpPr/>
          <p:nvPr/>
        </p:nvSpPr>
        <p:spPr>
          <a:xfrm>
            <a:off x="6035040" y="4297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Policymakers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4CD8BD-5603-7859-6DB4-9B6842557151}"/>
              </a:ext>
            </a:extLst>
          </p:cNvPr>
          <p:cNvSpPr txBox="1"/>
          <p:nvPr/>
        </p:nvSpPr>
        <p:spPr>
          <a:xfrm>
            <a:off x="295420" y="758952"/>
            <a:ext cx="511782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the process of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reviews and meta-analysis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time and manual effort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involved in searching, screening, and extracting research data.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up-to-date evidence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decision-making using automated analysis.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(HITL)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 for improving reliability and validation.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Review system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continuously updates results with new research papers.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medicine accessible, fast, and scalable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researchers, clinicians, and policymakers.</a:t>
            </a:r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D5B3C5E3-56E3-021A-8210-3BB20E040160}"/>
              </a:ext>
            </a:extLst>
          </p:cNvPr>
          <p:cNvSpPr/>
          <p:nvPr/>
        </p:nvSpPr>
        <p:spPr>
          <a:xfrm>
            <a:off x="5596128" y="23225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833E4524-E03E-82AB-E80F-A165391BE549}"/>
              </a:ext>
            </a:extLst>
          </p:cNvPr>
          <p:cNvSpPr/>
          <p:nvPr/>
        </p:nvSpPr>
        <p:spPr>
          <a:xfrm>
            <a:off x="5596128" y="28163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7F1BB7D2-1427-2FD2-663E-9DEE672935E2}"/>
              </a:ext>
            </a:extLst>
          </p:cNvPr>
          <p:cNvSpPr/>
          <p:nvPr/>
        </p:nvSpPr>
        <p:spPr>
          <a:xfrm>
            <a:off x="5596128" y="33101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🎓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51A8B01E-4394-A9FB-8E71-237FEE080D61}"/>
              </a:ext>
            </a:extLst>
          </p:cNvPr>
          <p:cNvSpPr/>
          <p:nvPr/>
        </p:nvSpPr>
        <p:spPr>
          <a:xfrm>
            <a:off x="5596128" y="38039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💊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B1793F8F-E65A-35C6-8C78-CEEEF4AA74B9}"/>
              </a:ext>
            </a:extLst>
          </p:cNvPr>
          <p:cNvSpPr/>
          <p:nvPr/>
        </p:nvSpPr>
        <p:spPr>
          <a:xfrm>
            <a:off x="5596128" y="42976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📋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2DC47D78-0CFA-13A8-8261-FA794EBBD932}"/>
              </a:ext>
            </a:extLst>
          </p:cNvPr>
          <p:cNvSpPr/>
          <p:nvPr/>
        </p:nvSpPr>
        <p:spPr>
          <a:xfrm>
            <a:off x="5596128" y="18288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3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7963" y="5257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Technologies and Their Gaps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087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1481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Covidence / Rayyan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1810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screens papers — no extraction, no statistics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3774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350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RevMan (Cochrane)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26791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data entry — no automation whatsoever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2461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32186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Abstrackr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7280" y="35478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screening only, no PDF parsing or meta-analysis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114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97280" y="4087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LLM Tools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97280" y="44165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PICO schema, no statistical pooling, no confidence scoring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PICO-SR addresses ALL of these gaps in a single integrated pipeline.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17373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PROPOSED SOLUTION — PICO-SR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93268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AI pipeline that automates the entire systematic review process — from fetching papers to generating a publication-ready meta-analysis report.</a:t>
            </a:r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12742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PubMed + OpenAlex + PMC Full Text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194560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13532" y="2224102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1952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47672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47672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include/exclude + confidence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39312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62272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92424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92424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12-field PICO JSON from full text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84064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07024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91456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37176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37176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 consistency + HITL flagging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28816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351776" y="2212848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81928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81928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+ random effects meta-analysis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973568" y="1828800"/>
            <a:ext cx="777240" cy="7772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1828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680960" y="278892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26680" y="28529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26680" y="32004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plot + PDF + Living Review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3"/>
          <p:cNvSpPr/>
          <p:nvPr/>
        </p:nvSpPr>
        <p:spPr>
          <a:xfrm>
            <a:off x="337625" y="302455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ARCHITECTURE &amp; FLOW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A5DEE6F-B490-62C2-43AE-C35540A99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58" y="891252"/>
            <a:ext cx="8738282" cy="3904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30421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PubMed </a:t>
            </a:r>
            <a:r>
              <a:rPr lang="en-US" sz="1200" dirty="0">
                <a:solidFill>
                  <a:srgbClr val="334155"/>
                </a:solidFill>
              </a:rPr>
              <a:t>E-utilities</a:t>
            </a:r>
            <a:r>
              <a:rPr lang="en-US" sz="1100" dirty="0">
                <a:solidFill>
                  <a:srgbClr val="334155"/>
                </a:solidFill>
              </a:rPr>
              <a:t>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OpenAlex API (250M papers)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PubMed Central OAI (full text)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Europe PMC full text XML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Unpaywall (open-access PDFs)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Semantic Scholar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96312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/ 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32888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87752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Groq API (Llama 3.1 8B Instant)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87752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LLM screening + PICO extraction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87752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rapidfuzz — fuzzy deduplication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87752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pdfplumber — PDF text 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87752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Confidence scoring (0.0–1.0)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87752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JSON schema validation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584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/ Stats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72584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64024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FastAPI (Python REST API)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64024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SQLAlchemy + SQLite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4024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scipy — statistical pooling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64024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numpy — matrix operations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64024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APScheduler — living 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64024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reportlab — PDF report gen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48856" y="1325880"/>
            <a:ext cx="20116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1325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48856" y="1673352"/>
            <a:ext cx="20116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0296" y="176479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·  Streamlit (Python web UI)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0296" y="224028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matplotlib — forest plots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0296" y="271576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HITL review interface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0296" y="31912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Real-time progress display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0296" y="36667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CSV / PDF export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40296" y="41422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·  Living review diff panel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51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Multi-Source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810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+ OpenAlex + PMC full text in one query. Automatic deduplication by DOI and fuzzy title matching.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481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LLM Screening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81051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Groq Llama 3.1 8B screens each paper. Returns include/exclude decision, reason, and confidence score 0–1.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0604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PICO Extraction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04495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12-field structured JSON extraction. Effect size, CI bounds, p-value, sample size — all with per-field confidence.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60604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0680" y="2715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Auto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04495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Programmatic CI consistency checks. Flags impossible values. Routes low-confidence fields to HITL review.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84048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Meta-Analysis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27939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Fixed + random effects pooling (DerSimonian-Laird). I² heterogeneity. Egger's publication bias test.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8404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840480"/>
            <a:ext cx="64008" cy="10972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4068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Living Review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27939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RSS polling every 24h. Auto re-runs pipeline on new papers. Diff report shows how evidence changed.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 UNIQUE CONTRIBUTIONS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160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01 Explainable AI Screening: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Provides clear reasons and confidence scores for including or excluding each paper, ensuring transparency and trust</a:t>
            </a:r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08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02 AI-Driven Pipeline: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6" name="Text 14"/>
          <p:cNvSpPr/>
          <p:nvPr/>
        </p:nvSpPr>
        <p:spPr>
          <a:xfrm>
            <a:off x="4846320" y="18105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Uses LLMs for both </a:t>
            </a:r>
            <a:r>
              <a:rPr lang="en-US" sz="1200" b="1" dirty="0"/>
              <a:t>screening and data extraction</a:t>
            </a:r>
            <a:r>
              <a:rPr lang="en-US" sz="1200" dirty="0"/>
              <a:t>, reducing manual effort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6324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Human-in-the-Loop (HITL) Interface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021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Uncertain extractions open a side-by-side view: AI output on the left, source text on the right. Researchers correct only the uncertain 10% — AI handles the other 90%.</a:t>
            </a:r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63240"/>
            <a:ext cx="64008" cy="155448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Living Review Mode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50215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After a review completes, PubMed RSS is polled every 24 hours. New matching papers are automatically processed and a diff report shows how the pooled evidence has shifted.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185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OUTPUT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18421E57-8D87-65E1-04BD-E83C98C0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87" y="667511"/>
            <a:ext cx="7361089" cy="431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2507EB-90CC-0F27-9E84-87F4949EE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87"/>
            <a:ext cx="9144000" cy="460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66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78E0C-EFA2-2B59-0952-EC2697196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7" y="674941"/>
            <a:ext cx="8377311" cy="340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79208-DEF4-CA5E-7B74-6E012F893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0"/>
            <a:ext cx="85601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52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90130-D922-3422-2256-1BBDB3D7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473"/>
            <a:ext cx="9144000" cy="414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80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 Key Management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API keys stored in .env file, never hardcoded. Loaded via python-dotenv at runtime only.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Local SQLite 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paper data and extractions stored locally. No patient data — only published research metadata.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075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Public Data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Sources are PubMed, OpenAlex, PMC — all publicly available academic databases. No private records.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 PHI Processed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System processes published research papers only. Zero personally identifiable or patient health information.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2900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Audit Trail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Every screening decision logged with reason and confidence. Full reproducibility for regulatory review.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2461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63640" y="3410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3904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HTTPS APIs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All external API calls made over HTTPS. Groq API uses enterprise-grade encryption in transit.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" y="1351964"/>
            <a:ext cx="5029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123092" y="1371600"/>
            <a:ext cx="64008" cy="3200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328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Cost Breakdown — Fully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7" y="1865376"/>
            <a:ext cx="4709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193852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PubMed / OpenAlex / PMC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94660" y="19516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 (open APIs)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841" y="2383067"/>
            <a:ext cx="4709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713232" y="24140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Groq API (Llama 3.1 8B)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11780" y="248511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 tier — 6K tok/min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" y="2852928"/>
            <a:ext cx="4709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13232" y="28895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SQLite storage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50234" y="296684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Free, local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" y="3340374"/>
            <a:ext cx="470916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13232" y="33649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Streamlit UI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90672" y="3399517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2C55E"/>
                </a:solidFill>
              </a:rPr>
              <a:t>Free, open 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5468" y="38574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</a:rPr>
              <a:t>Total infrastructure cost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20924" y="383479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766E"/>
                </a:solidFill>
              </a:rPr>
              <a:t>₹0 / month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06440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099F27-5C08-2E40-7C98-106DB38186E7}"/>
              </a:ext>
            </a:extLst>
          </p:cNvPr>
          <p:cNvSpPr txBox="1"/>
          <p:nvPr/>
        </p:nvSpPr>
        <p:spPr>
          <a:xfrm>
            <a:off x="5165656" y="1344356"/>
            <a:ext cx="369276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Scalability</a:t>
            </a:r>
          </a:p>
          <a:p>
            <a:pPr>
              <a:buNone/>
            </a:pPr>
            <a:endParaRPr lang="en-US" sz="1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Batch Processing:</a:t>
            </a:r>
            <a:r>
              <a:rPr lang="en-US" sz="1400" dirty="0"/>
              <a:t> Handles large numbers of papers efficiently by processing them in smaller batches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Modular Design:</a:t>
            </a:r>
            <a:r>
              <a:rPr lang="en-US" sz="1400" dirty="0"/>
              <a:t> Each stage (search, screening, extraction, analysis) can scale independently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Cloud Integration:</a:t>
            </a:r>
            <a:r>
              <a:rPr lang="en-US" sz="1400" dirty="0"/>
              <a:t> Can be deployed on cloud platforms to process thousands of papers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Efficient Data Handling:</a:t>
            </a:r>
            <a:r>
              <a:rPr lang="en-US" sz="1400" dirty="0"/>
              <a:t> Uses optimized pipelines to reduce time and API 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Living Review System:</a:t>
            </a:r>
            <a:r>
              <a:rPr lang="en-US" sz="1400" dirty="0"/>
              <a:t> Continuously scales with new incoming research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35AA1-199F-29E5-372C-0EB9BA1B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314BCC-20E8-E662-3086-76B1E06C074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4C26EC-D51F-8CB8-3459-81F65313A167}"/>
              </a:ext>
            </a:extLst>
          </p:cNvPr>
          <p:cNvSpPr/>
          <p:nvPr/>
        </p:nvSpPr>
        <p:spPr>
          <a:xfrm>
            <a:off x="295421" y="321169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/>
              <a:t>FUTURE WORKS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BC78D9-E95E-E80D-E6F6-3184A94B7097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0E7AB-990A-FF90-FAA3-70402FEFB25F}"/>
              </a:ext>
            </a:extLst>
          </p:cNvPr>
          <p:cNvSpPr txBox="1"/>
          <p:nvPr/>
        </p:nvSpPr>
        <p:spPr>
          <a:xfrm>
            <a:off x="295421" y="1324983"/>
            <a:ext cx="582402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Advanced NLP Models:</a:t>
            </a:r>
            <a:r>
              <a:rPr lang="en-US" sz="1600" dirty="0"/>
              <a:t> Improve extraction accuracy using domain-specific medical models </a:t>
            </a:r>
          </a:p>
          <a:p>
            <a:r>
              <a:rPr lang="en-US" sz="1600" b="1" dirty="0"/>
              <a:t>Better Screening Accuracy:</a:t>
            </a:r>
            <a:r>
              <a:rPr lang="en-US" sz="1600" dirty="0"/>
              <a:t> Reduce uncertain cases using improved AI classification </a:t>
            </a:r>
          </a:p>
          <a:p>
            <a:r>
              <a:rPr lang="en-US" sz="1600" b="1" dirty="0"/>
              <a:t>Multi-Database Integration:</a:t>
            </a:r>
            <a:r>
              <a:rPr lang="en-US" sz="1600" dirty="0"/>
              <a:t> Extend support to more sources like Scopus, Web of Science </a:t>
            </a:r>
          </a:p>
          <a:p>
            <a:r>
              <a:rPr lang="en-US" sz="1600" b="1" dirty="0"/>
              <a:t>Full PDF Understanding:</a:t>
            </a:r>
            <a:r>
              <a:rPr lang="en-US" sz="1600" dirty="0"/>
              <a:t> Enhance deep reading of complete papers for richer data extraction </a:t>
            </a:r>
          </a:p>
          <a:p>
            <a:r>
              <a:rPr lang="en-US" sz="1600" b="1" dirty="0"/>
              <a:t>Automated Bias Detection:</a:t>
            </a:r>
            <a:r>
              <a:rPr lang="en-US" sz="1600" dirty="0"/>
              <a:t> Identify study quality and risk of bias automatically </a:t>
            </a:r>
          </a:p>
          <a:p>
            <a:r>
              <a:rPr lang="en-US" sz="1600" b="1" dirty="0"/>
              <a:t>Clinical Integration:</a:t>
            </a:r>
            <a:r>
              <a:rPr lang="en-US" sz="1600" dirty="0"/>
              <a:t> Integrate with hospital systems for real-time decision support </a:t>
            </a:r>
          </a:p>
        </p:txBody>
      </p:sp>
      <p:pic>
        <p:nvPicPr>
          <p:cNvPr id="4100" name="Picture 4" descr="Systematic Review and Meta-Analysis | AESA">
            <a:extLst>
              <a:ext uri="{FF2B5EF4-FFF2-40B4-BE49-F238E27FC236}">
                <a16:creationId xmlns:a16="http://schemas.microsoft.com/office/drawing/2014/main" id="{EA4A97EA-41FB-FF82-27A7-08D10B156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447" y="1724025"/>
            <a:ext cx="268605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867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3C89583-E6B0-8BA9-1B35-93AA3BFC942F}"/>
              </a:ext>
            </a:extLst>
          </p:cNvPr>
          <p:cNvSpPr txBox="1"/>
          <p:nvPr/>
        </p:nvSpPr>
        <p:spPr>
          <a:xfrm>
            <a:off x="2011680" y="1921847"/>
            <a:ext cx="6379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</a:t>
            </a:r>
            <a:r>
              <a:rPr lang="en-IN" sz="6000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</a:t>
            </a:r>
            <a:endParaRPr lang="en-IN" sz="6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159</TotalTime>
  <Words>1434</Words>
  <Application>Microsoft Office PowerPoint</Application>
  <PresentationFormat>On-screen Show (16:9)</PresentationFormat>
  <Paragraphs>245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PICO-SR — AI Systematic Review</dc:title>
  <dc:subject>PptxGenJS Presentation</dc:subject>
  <dc:creator>PptxGenJS</dc:creator>
  <cp:lastModifiedBy>Harini Loganathan</cp:lastModifiedBy>
  <cp:revision>3</cp:revision>
  <dcterms:created xsi:type="dcterms:W3CDTF">2026-04-05T15:20:10Z</dcterms:created>
  <dcterms:modified xsi:type="dcterms:W3CDTF">2026-04-05T18:05:05Z</dcterms:modified>
</cp:coreProperties>
</file>